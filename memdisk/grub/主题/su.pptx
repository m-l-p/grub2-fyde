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19507200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1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15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324FE-716F-403D-8E32-68BA912EA64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6D61A-5DB4-47F6-9801-C1F548D56D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78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1143058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2286114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3429171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4572229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5715286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6858343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8001400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9144458" algn="l" defTabSz="2286114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6D61A-5DB4-47F6-9801-C1F548D56D7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040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40" y="2394374"/>
            <a:ext cx="16581120" cy="5093547"/>
          </a:xfrm>
        </p:spPr>
        <p:txBody>
          <a:bodyPr anchor="b"/>
          <a:lstStyle>
            <a:lvl1pPr algn="ctr">
              <a:defRPr sz="1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7684348"/>
            <a:ext cx="14630400" cy="3532292"/>
          </a:xfrm>
        </p:spPr>
        <p:txBody>
          <a:bodyPr/>
          <a:lstStyle>
            <a:lvl1pPr marL="0" indent="0" algn="ctr">
              <a:buNone/>
              <a:defRPr sz="5120"/>
            </a:lvl1pPr>
            <a:lvl2pPr marL="975345" indent="0" algn="ctr">
              <a:buNone/>
              <a:defRPr sz="4267"/>
            </a:lvl2pPr>
            <a:lvl3pPr marL="1950690" indent="0" algn="ctr">
              <a:buNone/>
              <a:defRPr sz="3840"/>
            </a:lvl3pPr>
            <a:lvl4pPr marL="2926034" indent="0" algn="ctr">
              <a:buNone/>
              <a:defRPr sz="3413"/>
            </a:lvl4pPr>
            <a:lvl5pPr marL="3901379" indent="0" algn="ctr">
              <a:buNone/>
              <a:defRPr sz="3413"/>
            </a:lvl5pPr>
            <a:lvl6pPr marL="4876724" indent="0" algn="ctr">
              <a:buNone/>
              <a:defRPr sz="3413"/>
            </a:lvl6pPr>
            <a:lvl7pPr marL="5852069" indent="0" algn="ctr">
              <a:buNone/>
              <a:defRPr sz="3413"/>
            </a:lvl7pPr>
            <a:lvl8pPr marL="6827413" indent="0" algn="ctr">
              <a:buNone/>
              <a:defRPr sz="3413"/>
            </a:lvl8pPr>
            <a:lvl9pPr marL="7802758" indent="0" algn="ctr">
              <a:buNone/>
              <a:defRPr sz="341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946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163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961" y="3647444"/>
            <a:ext cx="16824960" cy="6085839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0961" y="9790858"/>
            <a:ext cx="16824960" cy="3200399"/>
          </a:xfrm>
        </p:spPr>
        <p:txBody>
          <a:bodyPr/>
          <a:lstStyle>
            <a:lvl1pPr marL="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1pPr>
            <a:lvl2pPr marL="975345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2pPr>
            <a:lvl3pPr marL="195069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3pPr>
            <a:lvl4pPr marL="2926034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4pPr>
            <a:lvl5pPr marL="3901379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5pPr>
            <a:lvl6pPr marL="4876724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6pPr>
            <a:lvl7pPr marL="5852069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7pPr>
            <a:lvl8pPr marL="6827413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8pPr>
            <a:lvl9pPr marL="7802758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32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3894667"/>
            <a:ext cx="8290560" cy="92828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75520" y="3894667"/>
            <a:ext cx="8290560" cy="92828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71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778936"/>
            <a:ext cx="16824960" cy="282786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663" y="3586481"/>
            <a:ext cx="8252459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3663" y="5344160"/>
            <a:ext cx="8252459" cy="78604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75521" y="3586481"/>
            <a:ext cx="8293101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75521" y="5344160"/>
            <a:ext cx="8293101" cy="78604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45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78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261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975360"/>
            <a:ext cx="6291580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3101" y="2106510"/>
            <a:ext cx="9875520" cy="10397067"/>
          </a:xfrm>
        </p:spPr>
        <p:txBody>
          <a:bodyPr/>
          <a:lstStyle>
            <a:lvl1pPr>
              <a:defRPr sz="6827"/>
            </a:lvl1pPr>
            <a:lvl2pPr>
              <a:defRPr sz="5973"/>
            </a:lvl2pPr>
            <a:lvl3pPr>
              <a:defRPr sz="5120"/>
            </a:lvl3pPr>
            <a:lvl4pPr>
              <a:defRPr sz="4267"/>
            </a:lvl4pPr>
            <a:lvl5pPr>
              <a:defRPr sz="4267"/>
            </a:lvl5pPr>
            <a:lvl6pPr>
              <a:defRPr sz="4267"/>
            </a:lvl6pPr>
            <a:lvl7pPr>
              <a:defRPr sz="4267"/>
            </a:lvl7pPr>
            <a:lvl8pPr>
              <a:defRPr sz="4267"/>
            </a:lvl8pPr>
            <a:lvl9pPr>
              <a:defRPr sz="42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1" y="4389120"/>
            <a:ext cx="6291580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84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975360"/>
            <a:ext cx="6291580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93101" y="2106510"/>
            <a:ext cx="9875520" cy="10397067"/>
          </a:xfrm>
        </p:spPr>
        <p:txBody>
          <a:bodyPr anchor="t"/>
          <a:lstStyle>
            <a:lvl1pPr marL="0" indent="0">
              <a:buNone/>
              <a:defRPr sz="6827"/>
            </a:lvl1pPr>
            <a:lvl2pPr marL="975345" indent="0">
              <a:buNone/>
              <a:defRPr sz="5973"/>
            </a:lvl2pPr>
            <a:lvl3pPr marL="1950690" indent="0">
              <a:buNone/>
              <a:defRPr sz="5120"/>
            </a:lvl3pPr>
            <a:lvl4pPr marL="2926034" indent="0">
              <a:buNone/>
              <a:defRPr sz="4267"/>
            </a:lvl4pPr>
            <a:lvl5pPr marL="3901379" indent="0">
              <a:buNone/>
              <a:defRPr sz="4267"/>
            </a:lvl5pPr>
            <a:lvl6pPr marL="4876724" indent="0">
              <a:buNone/>
              <a:defRPr sz="4267"/>
            </a:lvl6pPr>
            <a:lvl7pPr marL="5852069" indent="0">
              <a:buNone/>
              <a:defRPr sz="4267"/>
            </a:lvl7pPr>
            <a:lvl8pPr marL="6827413" indent="0">
              <a:buNone/>
              <a:defRPr sz="4267"/>
            </a:lvl8pPr>
            <a:lvl9pPr marL="7802758" indent="0">
              <a:buNone/>
              <a:defRPr sz="42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1" y="4389120"/>
            <a:ext cx="6291580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21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56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59841" y="778933"/>
            <a:ext cx="4206240" cy="123985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1121" y="778933"/>
            <a:ext cx="12374880" cy="123985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192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778936"/>
            <a:ext cx="16824960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3894667"/>
            <a:ext cx="16824960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41120" y="13560217"/>
            <a:ext cx="438912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15242-509C-4448-AA72-CB270B5C007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61760" y="13560217"/>
            <a:ext cx="658368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76960" y="13560217"/>
            <a:ext cx="438912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C86FD3-C621-4B7C-BE37-C2AA47CF5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805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950690" rtl="0" eaLnBrk="1" latinLnBrk="0" hangingPunct="1">
        <a:lnSpc>
          <a:spcPct val="90000"/>
        </a:lnSpc>
        <a:spcBef>
          <a:spcPct val="0"/>
        </a:spcBef>
        <a:buNone/>
        <a:defRPr sz="93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72" indent="-487672" algn="l" defTabSz="195069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5973" kern="1200">
          <a:solidFill>
            <a:schemeClr val="tx1"/>
          </a:solidFill>
          <a:latin typeface="+mn-lt"/>
          <a:ea typeface="+mn-ea"/>
          <a:cs typeface="+mn-cs"/>
        </a:defRPr>
      </a:lvl1pPr>
      <a:lvl2pPr marL="146301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5120" kern="1200">
          <a:solidFill>
            <a:schemeClr val="tx1"/>
          </a:solidFill>
          <a:latin typeface="+mn-lt"/>
          <a:ea typeface="+mn-ea"/>
          <a:cs typeface="+mn-cs"/>
        </a:defRPr>
      </a:lvl2pPr>
      <a:lvl3pPr marL="2438362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341370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438905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536439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633974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731508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8290430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95069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3pPr>
      <a:lvl4pPr marL="292603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390137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487672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585206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6827413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7802758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EC32EEBD-9C2A-D929-2D42-C0350DCDCCFC}"/>
              </a:ext>
            </a:extLst>
          </p:cNvPr>
          <p:cNvGrpSpPr/>
          <p:nvPr/>
        </p:nvGrpSpPr>
        <p:grpSpPr>
          <a:xfrm>
            <a:off x="663" y="29699"/>
            <a:ext cx="19505878" cy="13727865"/>
            <a:chOff x="0" y="11482"/>
            <a:chExt cx="7802563" cy="549129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29DC9A0-0876-4DB4-1E1B-94BDD72E5D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93" b="35"/>
            <a:stretch>
              <a:fillRect/>
            </a:stretch>
          </p:blipFill>
          <p:spPr>
            <a:xfrm>
              <a:off x="0" y="11482"/>
              <a:ext cx="7802563" cy="5491295"/>
            </a:xfrm>
            <a:prstGeom prst="rect">
              <a:avLst/>
            </a:prstGeom>
          </p:spPr>
        </p:pic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41A4B6A9-6AE5-BDD2-8320-F9473A55F09D}"/>
                </a:ext>
              </a:extLst>
            </p:cNvPr>
            <p:cNvGrpSpPr/>
            <p:nvPr/>
          </p:nvGrpSpPr>
          <p:grpSpPr>
            <a:xfrm>
              <a:off x="62562" y="774329"/>
              <a:ext cx="6910024" cy="4431242"/>
              <a:chOff x="62562" y="774329"/>
              <a:chExt cx="6910024" cy="4431242"/>
            </a:xfrm>
          </p:grpSpPr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0F8E0262-6F41-32D9-B3D0-2B59B3C7D142}"/>
                  </a:ext>
                </a:extLst>
              </p:cNvPr>
              <p:cNvGrpSpPr/>
              <p:nvPr/>
            </p:nvGrpSpPr>
            <p:grpSpPr>
              <a:xfrm>
                <a:off x="62562" y="774329"/>
                <a:ext cx="2798249" cy="4431242"/>
                <a:chOff x="62562" y="774329"/>
                <a:chExt cx="2798249" cy="4431242"/>
              </a:xfrm>
            </p:grpSpPr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915CA7A9-8934-FADF-7D91-76F74FD9CA8C}"/>
                    </a:ext>
                  </a:extLst>
                </p:cNvPr>
                <p:cNvSpPr/>
                <p:nvPr/>
              </p:nvSpPr>
              <p:spPr>
                <a:xfrm>
                  <a:off x="545449" y="4812543"/>
                  <a:ext cx="2315362" cy="393028"/>
                </a:xfrm>
                <a:prstGeom prst="rect">
                  <a:avLst/>
                </a:prstGeom>
                <a:noFill/>
                <a:ln w="63500">
                  <a:solidFill>
                    <a:srgbClr val="C00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6450"/>
                </a:p>
              </p:txBody>
            </p:sp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2E196234-5CE0-3140-B00C-5EEFE87292DB}"/>
                    </a:ext>
                  </a:extLst>
                </p:cNvPr>
                <p:cNvSpPr/>
                <p:nvPr/>
              </p:nvSpPr>
              <p:spPr>
                <a:xfrm>
                  <a:off x="62562" y="774329"/>
                  <a:ext cx="2315362" cy="268449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6450"/>
                </a:p>
              </p:txBody>
            </p:sp>
            <p:cxnSp>
              <p:nvCxnSpPr>
                <p:cNvPr id="11" name="直接箭头连接符 10">
                  <a:extLst>
                    <a:ext uri="{FF2B5EF4-FFF2-40B4-BE49-F238E27FC236}">
                      <a16:creationId xmlns:a16="http://schemas.microsoft.com/office/drawing/2014/main" id="{D3CEBA36-CAC6-CDF9-1C39-3F17719AF7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53278" y="1121850"/>
                  <a:ext cx="160748" cy="3582883"/>
                </a:xfrm>
                <a:prstGeom prst="straightConnector1">
                  <a:avLst/>
                </a:prstGeom>
                <a:ln w="63500">
                  <a:solidFill>
                    <a:srgbClr val="C0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F9A36762-8352-1419-4F88-814DFD2994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alphaModFix/>
              </a:blip>
              <a:stretch>
                <a:fillRect/>
              </a:stretch>
            </p:blipFill>
            <p:spPr>
              <a:xfrm>
                <a:off x="5712586" y="3917659"/>
                <a:ext cx="1260000" cy="1260000"/>
              </a:xfrm>
              <a:prstGeom prst="rect">
                <a:avLst/>
              </a:prstGeom>
            </p:spPr>
          </p:pic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23C95F65-7121-06E8-1802-8B51885A03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alphaModFix/>
              </a:blip>
              <a:stretch>
                <a:fillRect/>
              </a:stretch>
            </p:blipFill>
            <p:spPr>
              <a:xfrm>
                <a:off x="3622609" y="3917659"/>
                <a:ext cx="1260000" cy="1260000"/>
              </a:xfrm>
              <a:prstGeom prst="rect">
                <a:avLst/>
              </a:prstGeom>
            </p:spPr>
          </p:pic>
        </p:grpSp>
      </p:grpSp>
      <p:sp>
        <p:nvSpPr>
          <p:cNvPr id="6" name="标题 5">
            <a:extLst>
              <a:ext uri="{FF2B5EF4-FFF2-40B4-BE49-F238E27FC236}">
                <a16:creationId xmlns:a16="http://schemas.microsoft.com/office/drawing/2014/main" id="{90CC2EC7-E728-9C8F-54EA-50CE583F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9729" y="245432"/>
            <a:ext cx="12646062" cy="1691334"/>
          </a:xfrm>
        </p:spPr>
        <p:txBody>
          <a:bodyPr>
            <a:normAutofit fontScale="90000"/>
          </a:bodyPr>
          <a:lstStyle/>
          <a:p>
            <a:r>
              <a:rPr lang="en-US" altLang="zh-CN" sz="9000" dirty="0" err="1">
                <a:solidFill>
                  <a:schemeClr val="bg2"/>
                </a:solidFill>
              </a:rPr>
              <a:t>fydeOS</a:t>
            </a:r>
            <a:r>
              <a:rPr lang="en-US" altLang="zh-CN" sz="9000" dirty="0">
                <a:solidFill>
                  <a:schemeClr val="bg2"/>
                </a:solidFill>
              </a:rPr>
              <a:t> </a:t>
            </a:r>
            <a:r>
              <a:rPr lang="zh-CN" altLang="en-US" sz="9000" dirty="0">
                <a:solidFill>
                  <a:schemeClr val="bg2"/>
                </a:solidFill>
              </a:rPr>
              <a:t>获取 </a:t>
            </a:r>
            <a:r>
              <a:rPr lang="en-US" altLang="zh-CN" sz="9000" dirty="0">
                <a:solidFill>
                  <a:schemeClr val="bg2"/>
                </a:solidFill>
              </a:rPr>
              <a:t>Root </a:t>
            </a:r>
            <a:r>
              <a:rPr lang="zh-CN" altLang="en-US" sz="9000" dirty="0">
                <a:solidFill>
                  <a:schemeClr val="bg2"/>
                </a:solidFill>
              </a:rPr>
              <a:t>权限分析</a:t>
            </a:r>
            <a:endParaRPr lang="zh-CN" altLang="en-US" sz="9000" dirty="0">
              <a:solidFill>
                <a:schemeClr val="bg1"/>
              </a:solidFill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5AB876A-D019-43DE-08B1-9BEA72FA2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2568" y="1897218"/>
            <a:ext cx="10300383" cy="10134808"/>
          </a:xfrm>
        </p:spPr>
        <p:txBody>
          <a:bodyPr>
            <a:normAutofit/>
          </a:bodyPr>
          <a:lstStyle/>
          <a:p>
            <a:r>
              <a:rPr lang="en-US" altLang="zh-CN" sz="3500" dirty="0" err="1">
                <a:solidFill>
                  <a:schemeClr val="bg2"/>
                </a:solidFill>
              </a:rPr>
              <a:t>fydeOS</a:t>
            </a:r>
            <a:r>
              <a:rPr lang="en-US" altLang="zh-CN" sz="3500" dirty="0">
                <a:solidFill>
                  <a:schemeClr val="bg2"/>
                </a:solidFill>
              </a:rPr>
              <a:t> </a:t>
            </a:r>
            <a:r>
              <a:rPr lang="zh-CN" altLang="en-US" sz="3500" dirty="0">
                <a:solidFill>
                  <a:schemeClr val="bg2"/>
                </a:solidFill>
              </a:rPr>
              <a:t>内嵌的 </a:t>
            </a:r>
            <a:r>
              <a:rPr lang="en-US" altLang="zh-CN" sz="3500" dirty="0">
                <a:solidFill>
                  <a:schemeClr val="bg2"/>
                </a:solidFill>
              </a:rPr>
              <a:t>Android </a:t>
            </a:r>
            <a:r>
              <a:rPr lang="zh-CN" altLang="en-US" sz="3500" dirty="0">
                <a:solidFill>
                  <a:schemeClr val="bg2"/>
                </a:solidFill>
              </a:rPr>
              <a:t>是容器，与宿主系统共享内核资源。如图，</a:t>
            </a:r>
            <a:r>
              <a:rPr lang="en-US" altLang="zh-CN" sz="3500" dirty="0" err="1">
                <a:solidFill>
                  <a:schemeClr val="bg2"/>
                </a:solidFill>
              </a:rPr>
              <a:t>crosh</a:t>
            </a:r>
            <a:r>
              <a:rPr lang="en-US" altLang="zh-CN" sz="3500" dirty="0">
                <a:solidFill>
                  <a:schemeClr val="bg2"/>
                </a:solidFill>
              </a:rPr>
              <a:t> shell </a:t>
            </a:r>
            <a:r>
              <a:rPr lang="zh-CN" altLang="en-US" sz="3500" dirty="0">
                <a:solidFill>
                  <a:schemeClr val="bg2"/>
                </a:solidFill>
              </a:rPr>
              <a:t>的 </a:t>
            </a:r>
            <a:r>
              <a:rPr lang="en-US" altLang="zh-CN" sz="3500" dirty="0" err="1">
                <a:solidFill>
                  <a:schemeClr val="bg2"/>
                </a:solidFill>
              </a:rPr>
              <a:t>uname</a:t>
            </a:r>
            <a:r>
              <a:rPr lang="en-US" altLang="zh-CN" sz="3500" dirty="0">
                <a:solidFill>
                  <a:schemeClr val="bg2"/>
                </a:solidFill>
              </a:rPr>
              <a:t> –r </a:t>
            </a:r>
            <a:r>
              <a:rPr lang="zh-CN" altLang="en-US" sz="3500" dirty="0">
                <a:solidFill>
                  <a:schemeClr val="bg2"/>
                </a:solidFill>
              </a:rPr>
              <a:t>检查内核版本号，发现和 安卓设置的 内核版本号一样。</a:t>
            </a:r>
            <a:endParaRPr lang="en-US" altLang="zh-CN" sz="3500" dirty="0">
              <a:solidFill>
                <a:schemeClr val="bg2"/>
              </a:solidFill>
            </a:endParaRPr>
          </a:p>
          <a:p>
            <a:r>
              <a:rPr lang="zh-CN" altLang="en-US" sz="3500" dirty="0">
                <a:solidFill>
                  <a:schemeClr val="bg2"/>
                </a:solidFill>
              </a:rPr>
              <a:t>由于共享宿主内核资源，</a:t>
            </a:r>
            <a:r>
              <a:rPr lang="en-US" altLang="zh-CN" sz="3500" dirty="0">
                <a:solidFill>
                  <a:schemeClr val="bg2"/>
                </a:solidFill>
              </a:rPr>
              <a:t>Android </a:t>
            </a:r>
            <a:r>
              <a:rPr lang="zh-CN" altLang="en-US" sz="3500" dirty="0">
                <a:solidFill>
                  <a:schemeClr val="bg2"/>
                </a:solidFill>
              </a:rPr>
              <a:t>容器的性能损失自然小，硬件利用率自然大于 模拟器 和 虚拟机。虽然 </a:t>
            </a:r>
            <a:r>
              <a:rPr lang="en-US" altLang="zh-CN" sz="3500" dirty="0">
                <a:solidFill>
                  <a:schemeClr val="bg2"/>
                </a:solidFill>
              </a:rPr>
              <a:t>Android 11 </a:t>
            </a:r>
            <a:r>
              <a:rPr lang="zh-CN" altLang="en-US" sz="3500" dirty="0">
                <a:solidFill>
                  <a:schemeClr val="bg2"/>
                </a:solidFill>
              </a:rPr>
              <a:t>的版本不算太高，但至少比 安卓电视 的 </a:t>
            </a:r>
            <a:r>
              <a:rPr lang="en-US" altLang="zh-CN" sz="3500" dirty="0">
                <a:solidFill>
                  <a:schemeClr val="bg2"/>
                </a:solidFill>
              </a:rPr>
              <a:t>Android 9 </a:t>
            </a:r>
            <a:r>
              <a:rPr lang="zh-CN" altLang="en-US" sz="3500" dirty="0">
                <a:solidFill>
                  <a:schemeClr val="bg2"/>
                </a:solidFill>
              </a:rPr>
              <a:t>高。许多保守的闭源应用 依旧 以 </a:t>
            </a:r>
            <a:r>
              <a:rPr lang="en-US" altLang="zh-CN" sz="3500" dirty="0">
                <a:solidFill>
                  <a:schemeClr val="bg2"/>
                </a:solidFill>
              </a:rPr>
              <a:t>11 </a:t>
            </a:r>
            <a:r>
              <a:rPr lang="zh-CN" altLang="en-US" sz="3500" dirty="0">
                <a:solidFill>
                  <a:schemeClr val="bg2"/>
                </a:solidFill>
              </a:rPr>
              <a:t>为靶版本，绝大多数应用的最小</a:t>
            </a:r>
            <a:r>
              <a:rPr lang="en-US" altLang="zh-CN" sz="3500" dirty="0">
                <a:solidFill>
                  <a:schemeClr val="bg2"/>
                </a:solidFill>
              </a:rPr>
              <a:t>SDK </a:t>
            </a:r>
            <a:r>
              <a:rPr lang="zh-CN" altLang="en-US" sz="3500" dirty="0">
                <a:solidFill>
                  <a:schemeClr val="bg2"/>
                </a:solidFill>
              </a:rPr>
              <a:t>小于或等于 </a:t>
            </a:r>
            <a:r>
              <a:rPr lang="en-US" altLang="zh-CN" sz="3500" dirty="0">
                <a:solidFill>
                  <a:schemeClr val="bg2"/>
                </a:solidFill>
              </a:rPr>
              <a:t>11</a:t>
            </a:r>
            <a:r>
              <a:rPr lang="zh-CN" altLang="en-US" sz="3500" dirty="0">
                <a:solidFill>
                  <a:schemeClr val="bg2"/>
                </a:solidFill>
              </a:rPr>
              <a:t>。考虑到不必像使用手机那样追求方方面面的新功能特性，仅用来扩展生态使 </a:t>
            </a:r>
            <a:r>
              <a:rPr lang="en-US" altLang="zh-CN" sz="3500" dirty="0" err="1">
                <a:solidFill>
                  <a:schemeClr val="bg2"/>
                </a:solidFill>
              </a:rPr>
              <a:t>fydeOS</a:t>
            </a:r>
            <a:r>
              <a:rPr lang="en-US" altLang="zh-CN" sz="3500" dirty="0">
                <a:solidFill>
                  <a:schemeClr val="bg2"/>
                </a:solidFill>
              </a:rPr>
              <a:t> </a:t>
            </a:r>
            <a:r>
              <a:rPr lang="zh-CN" altLang="en-US" sz="3500" dirty="0">
                <a:solidFill>
                  <a:schemeClr val="bg2"/>
                </a:solidFill>
              </a:rPr>
              <a:t>支持 安卓应用 的 容器 拥有 </a:t>
            </a:r>
            <a:r>
              <a:rPr lang="en-US" altLang="zh-CN" sz="3500" dirty="0">
                <a:solidFill>
                  <a:schemeClr val="bg2"/>
                </a:solidFill>
              </a:rPr>
              <a:t>Android 11 </a:t>
            </a:r>
            <a:r>
              <a:rPr lang="zh-CN" altLang="en-US" sz="3500" dirty="0">
                <a:solidFill>
                  <a:schemeClr val="bg2"/>
                </a:solidFill>
              </a:rPr>
              <a:t>的版本，已经相当够用，不算落后了。</a:t>
            </a:r>
            <a:endParaRPr lang="en-US" altLang="zh-CN" sz="3500" dirty="0">
              <a:solidFill>
                <a:schemeClr val="bg2"/>
              </a:solidFill>
            </a:endParaRPr>
          </a:p>
          <a:p>
            <a:r>
              <a:rPr lang="zh-CN" altLang="en-US" sz="3500" dirty="0">
                <a:solidFill>
                  <a:schemeClr val="bg2"/>
                </a:solidFill>
              </a:rPr>
              <a:t>要想获取 </a:t>
            </a:r>
            <a:r>
              <a:rPr lang="en-US" altLang="zh-CN" sz="3500" dirty="0">
                <a:solidFill>
                  <a:schemeClr val="bg2"/>
                </a:solidFill>
              </a:rPr>
              <a:t>Root </a:t>
            </a:r>
            <a:r>
              <a:rPr lang="zh-CN" altLang="en-US" sz="3500" dirty="0">
                <a:solidFill>
                  <a:schemeClr val="bg2"/>
                </a:solidFill>
              </a:rPr>
              <a:t>权限，自然有两大方向</a:t>
            </a:r>
            <a:r>
              <a:rPr lang="en-US" altLang="zh-CN" sz="3500" dirty="0">
                <a:solidFill>
                  <a:schemeClr val="bg2"/>
                </a:solidFill>
              </a:rPr>
              <a:t>——</a:t>
            </a:r>
            <a:r>
              <a:rPr lang="en-US" altLang="zh-CN" sz="3500" dirty="0" err="1">
                <a:solidFill>
                  <a:schemeClr val="bg2"/>
                </a:solidFill>
              </a:rPr>
              <a:t>KernelSU</a:t>
            </a:r>
            <a:r>
              <a:rPr lang="en-US" altLang="zh-CN" sz="3500" dirty="0">
                <a:solidFill>
                  <a:schemeClr val="bg2"/>
                </a:solidFill>
              </a:rPr>
              <a:t> </a:t>
            </a:r>
            <a:r>
              <a:rPr lang="zh-CN" altLang="en-US" sz="3500" dirty="0">
                <a:solidFill>
                  <a:schemeClr val="bg2"/>
                </a:solidFill>
              </a:rPr>
              <a:t>和 </a:t>
            </a:r>
            <a:r>
              <a:rPr lang="en-US" altLang="zh-CN" sz="3500" dirty="0" err="1">
                <a:solidFill>
                  <a:schemeClr val="bg2"/>
                </a:solidFill>
              </a:rPr>
              <a:t>Apatch</a:t>
            </a:r>
            <a:r>
              <a:rPr lang="zh-CN" altLang="en-US" sz="3500" dirty="0">
                <a:solidFill>
                  <a:schemeClr val="bg2"/>
                </a:solidFill>
              </a:rPr>
              <a:t>。</a:t>
            </a:r>
          </a:p>
        </p:txBody>
      </p:sp>
      <p:sp>
        <p:nvSpPr>
          <p:cNvPr id="12" name="AutoShape 2" descr="logo">
            <a:extLst>
              <a:ext uri="{FF2B5EF4-FFF2-40B4-BE49-F238E27FC236}">
                <a16:creationId xmlns:a16="http://schemas.microsoft.com/office/drawing/2014/main" id="{51738726-3BCF-0173-AADE-4D8097A356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70628" y="6934213"/>
            <a:ext cx="761979" cy="76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228594" tIns="114297" rIns="228594" bIns="114297" numCol="1" anchor="t" anchorCtr="0" compatLnSpc="1">
            <a:prstTxWarp prst="textNoShape">
              <a:avLst/>
            </a:prstTxWarp>
          </a:bodyPr>
          <a:lstStyle/>
          <a:p>
            <a:endParaRPr lang="zh-CN" altLang="en-US" sz="6450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3AA28484-B78D-530B-58D7-EDAD6151EE97}"/>
              </a:ext>
            </a:extLst>
          </p:cNvPr>
          <p:cNvSpPr/>
          <p:nvPr/>
        </p:nvSpPr>
        <p:spPr>
          <a:xfrm>
            <a:off x="14850259" y="13050640"/>
            <a:ext cx="4499878" cy="1349963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下一页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ctr"/>
            <a:r>
              <a:rPr lang="en-US" altLang="zh-CN" sz="4000" dirty="0">
                <a:solidFill>
                  <a:schemeClr val="tx1"/>
                </a:solidFill>
              </a:rPr>
              <a:t>【Tab】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9" name="动作按钮: 转到主页 8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B79995F-07DD-1350-46D0-AE48724508C0}"/>
              </a:ext>
            </a:extLst>
          </p:cNvPr>
          <p:cNvSpPr/>
          <p:nvPr/>
        </p:nvSpPr>
        <p:spPr>
          <a:xfrm>
            <a:off x="157065" y="13050640"/>
            <a:ext cx="4499878" cy="1349963"/>
          </a:xfrm>
          <a:prstGeom prst="actionButtonHom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  主菜单         </a:t>
            </a:r>
            <a:r>
              <a:rPr lang="en-US" altLang="zh-CN" sz="4000" dirty="0">
                <a:solidFill>
                  <a:schemeClr val="tx1"/>
                </a:solidFill>
              </a:rPr>
              <a:t>【ESC】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902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手机屏幕的截图&#10;&#10;AI 生成的内容可能不正确。">
            <a:extLst>
              <a:ext uri="{FF2B5EF4-FFF2-40B4-BE49-F238E27FC236}">
                <a16:creationId xmlns:a16="http://schemas.microsoft.com/office/drawing/2014/main" id="{6D132D6D-C0ED-37F3-BD28-D9287C17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"/>
          <a:stretch>
            <a:fillRect/>
          </a:stretch>
        </p:blipFill>
        <p:spPr>
          <a:xfrm>
            <a:off x="5061097" y="12031043"/>
            <a:ext cx="9632757" cy="236956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82DD511-3557-37CA-BC96-974276531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692" y="39930"/>
            <a:ext cx="16823821" cy="282748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bg2"/>
                </a:solidFill>
              </a:rPr>
              <a:t>关于 </a:t>
            </a:r>
            <a:r>
              <a:rPr lang="en-US" altLang="zh-CN" dirty="0" err="1">
                <a:solidFill>
                  <a:schemeClr val="bg2"/>
                </a:solidFill>
              </a:rPr>
              <a:t>KernelSU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</a:rPr>
              <a:t>的分析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27FE02-C7D9-9BA0-2B86-7C317A338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" y="2867415"/>
            <a:ext cx="19505878" cy="11723059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chemeClr val="bg2"/>
                </a:solidFill>
              </a:rPr>
              <a:t>考虑到 </a:t>
            </a:r>
            <a:r>
              <a:rPr lang="en-US" altLang="zh-CN" sz="3600" dirty="0" err="1">
                <a:solidFill>
                  <a:schemeClr val="bg2"/>
                </a:solidFill>
              </a:rPr>
              <a:t>KernelSU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的更新，</a:t>
            </a:r>
            <a:r>
              <a:rPr lang="en-US" altLang="zh-CN" sz="3600" dirty="0">
                <a:solidFill>
                  <a:schemeClr val="bg2"/>
                </a:solidFill>
              </a:rPr>
              <a:t>LKM </a:t>
            </a:r>
            <a:r>
              <a:rPr lang="zh-CN" altLang="en-US" sz="3600" dirty="0">
                <a:solidFill>
                  <a:schemeClr val="bg2"/>
                </a:solidFill>
              </a:rPr>
              <a:t>模式甚好，</a:t>
            </a:r>
            <a:r>
              <a:rPr lang="en-US" altLang="zh-CN" sz="3600" dirty="0" err="1">
                <a:solidFill>
                  <a:schemeClr val="bg2"/>
                </a:solidFill>
              </a:rPr>
              <a:t>insmod</a:t>
            </a:r>
            <a:r>
              <a:rPr lang="en-US" altLang="zh-CN" sz="3600" dirty="0">
                <a:solidFill>
                  <a:schemeClr val="bg2"/>
                </a:solidFill>
              </a:rPr>
              <a:t> **</a:t>
            </a:r>
            <a:r>
              <a:rPr lang="en-US" altLang="zh-CN" sz="3600" dirty="0" err="1">
                <a:solidFill>
                  <a:schemeClr val="bg2"/>
                </a:solidFill>
              </a:rPr>
              <a:t>kernelsu.ko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加载 </a:t>
            </a:r>
            <a:r>
              <a:rPr lang="en-US" altLang="zh-CN" sz="3600" dirty="0" err="1">
                <a:solidFill>
                  <a:schemeClr val="bg2"/>
                </a:solidFill>
              </a:rPr>
              <a:t>KernelSU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的内核模块，更新只需 替换 </a:t>
            </a:r>
            <a:r>
              <a:rPr lang="en-US" altLang="zh-CN" sz="3600" dirty="0">
                <a:solidFill>
                  <a:schemeClr val="bg2"/>
                </a:solidFill>
              </a:rPr>
              <a:t>.ko </a:t>
            </a:r>
            <a:r>
              <a:rPr lang="zh-CN" altLang="en-US" sz="3600" dirty="0">
                <a:solidFill>
                  <a:schemeClr val="bg2"/>
                </a:solidFill>
              </a:rPr>
              <a:t>文件。</a:t>
            </a:r>
            <a:endParaRPr lang="en-US" altLang="zh-CN" sz="3600" dirty="0">
              <a:solidFill>
                <a:schemeClr val="bg2"/>
              </a:solidFill>
            </a:endParaRPr>
          </a:p>
          <a:p>
            <a:r>
              <a:rPr lang="zh-CN" altLang="en-US" sz="3600" dirty="0">
                <a:solidFill>
                  <a:schemeClr val="bg2"/>
                </a:solidFill>
              </a:rPr>
              <a:t>绝大多数新版本的内核都支持 </a:t>
            </a:r>
            <a:r>
              <a:rPr lang="en-US" altLang="zh-CN" sz="3600" dirty="0">
                <a:solidFill>
                  <a:schemeClr val="bg2"/>
                </a:solidFill>
              </a:rPr>
              <a:t>LKM </a:t>
            </a:r>
            <a:r>
              <a:rPr lang="zh-CN" altLang="en-US" sz="3600" dirty="0">
                <a:solidFill>
                  <a:schemeClr val="bg2"/>
                </a:solidFill>
              </a:rPr>
              <a:t>模式。</a:t>
            </a:r>
            <a:r>
              <a:rPr lang="en-US" altLang="zh-CN" sz="3600" dirty="0" err="1">
                <a:solidFill>
                  <a:schemeClr val="bg2"/>
                </a:solidFill>
              </a:rPr>
              <a:t>crosh</a:t>
            </a:r>
            <a:r>
              <a:rPr lang="en-US" altLang="zh-CN" sz="3600" dirty="0">
                <a:solidFill>
                  <a:schemeClr val="bg2"/>
                </a:solidFill>
              </a:rPr>
              <a:t> shell </a:t>
            </a:r>
            <a:r>
              <a:rPr lang="zh-CN" altLang="en-US" sz="3600" dirty="0">
                <a:solidFill>
                  <a:schemeClr val="bg2"/>
                </a:solidFill>
              </a:rPr>
              <a:t>的 “</a:t>
            </a:r>
            <a:r>
              <a:rPr lang="en-US" altLang="zh-CN" sz="3600" dirty="0" err="1">
                <a:solidFill>
                  <a:schemeClr val="bg2"/>
                </a:solidFill>
              </a:rPr>
              <a:t>sudo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en-US" altLang="zh-CN" sz="3600" dirty="0" err="1">
                <a:solidFill>
                  <a:schemeClr val="bg2"/>
                </a:solidFill>
              </a:rPr>
              <a:t>modprobe</a:t>
            </a:r>
            <a:r>
              <a:rPr lang="zh-CN" altLang="en-US" sz="3600" dirty="0">
                <a:solidFill>
                  <a:schemeClr val="bg2"/>
                </a:solidFill>
              </a:rPr>
              <a:t>” 发现 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en-US" altLang="zh-CN" sz="3600" dirty="0" err="1">
                <a:solidFill>
                  <a:schemeClr val="bg2"/>
                </a:solidFill>
              </a:rPr>
              <a:t>fydeOS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的官方内核 是 支持 </a:t>
            </a:r>
            <a:r>
              <a:rPr lang="en-US" altLang="zh-CN" sz="3600" dirty="0">
                <a:solidFill>
                  <a:schemeClr val="bg2"/>
                </a:solidFill>
              </a:rPr>
              <a:t>LKM </a:t>
            </a:r>
            <a:r>
              <a:rPr lang="zh-CN" altLang="en-US" sz="3600" dirty="0">
                <a:solidFill>
                  <a:schemeClr val="bg2"/>
                </a:solidFill>
              </a:rPr>
              <a:t>的。</a:t>
            </a:r>
            <a:endParaRPr lang="en-US" altLang="zh-CN" sz="3600" dirty="0">
              <a:solidFill>
                <a:schemeClr val="bg2"/>
              </a:solidFill>
            </a:endParaRPr>
          </a:p>
          <a:p>
            <a:r>
              <a:rPr lang="zh-CN" altLang="en-US" sz="3600" dirty="0">
                <a:solidFill>
                  <a:schemeClr val="bg2"/>
                </a:solidFill>
              </a:rPr>
              <a:t>但是不能直接使用，因为 </a:t>
            </a:r>
            <a:r>
              <a:rPr lang="en-US" altLang="zh-CN" sz="3600" dirty="0" err="1">
                <a:solidFill>
                  <a:schemeClr val="bg2"/>
                </a:solidFill>
              </a:rPr>
              <a:t>KernelSU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官方提供的 “</a:t>
            </a:r>
            <a:r>
              <a:rPr lang="en-US" altLang="zh-CN" sz="3600" dirty="0">
                <a:solidFill>
                  <a:schemeClr val="bg2"/>
                </a:solidFill>
              </a:rPr>
              <a:t>android1*-*.**_</a:t>
            </a:r>
            <a:r>
              <a:rPr lang="en-US" altLang="zh-CN" sz="3600" dirty="0" err="1">
                <a:solidFill>
                  <a:schemeClr val="bg2"/>
                </a:solidFill>
              </a:rPr>
              <a:t>kernelsu.ko</a:t>
            </a:r>
            <a:r>
              <a:rPr lang="zh-CN" altLang="en-US" sz="3600" dirty="0">
                <a:solidFill>
                  <a:schemeClr val="bg2"/>
                </a:solidFill>
              </a:rPr>
              <a:t>” 是 </a:t>
            </a:r>
            <a:r>
              <a:rPr lang="en-US" altLang="zh-CN" sz="3600" dirty="0">
                <a:solidFill>
                  <a:schemeClr val="bg2"/>
                </a:solidFill>
              </a:rPr>
              <a:t>ARM </a:t>
            </a:r>
            <a:r>
              <a:rPr lang="zh-CN" altLang="en-US" sz="3600" dirty="0">
                <a:solidFill>
                  <a:schemeClr val="bg2"/>
                </a:solidFill>
              </a:rPr>
              <a:t>架构的，还需要举一反三 编译一个 </a:t>
            </a:r>
            <a:r>
              <a:rPr lang="en-US" altLang="zh-CN" sz="3600" dirty="0">
                <a:solidFill>
                  <a:schemeClr val="bg2"/>
                </a:solidFill>
              </a:rPr>
              <a:t>x86_64 </a:t>
            </a:r>
            <a:r>
              <a:rPr lang="zh-CN" altLang="en-US" sz="3600" dirty="0">
                <a:solidFill>
                  <a:schemeClr val="bg2"/>
                </a:solidFill>
              </a:rPr>
              <a:t>架构的 </a:t>
            </a:r>
            <a:r>
              <a:rPr lang="en-US" altLang="zh-CN" sz="3600" dirty="0">
                <a:solidFill>
                  <a:schemeClr val="bg2"/>
                </a:solidFill>
              </a:rPr>
              <a:t>.ko</a:t>
            </a:r>
            <a:r>
              <a:rPr lang="zh-CN" altLang="en-US" sz="3600" dirty="0">
                <a:solidFill>
                  <a:schemeClr val="bg2"/>
                </a:solidFill>
              </a:rPr>
              <a:t>。</a:t>
            </a:r>
            <a:endParaRPr lang="en-US" altLang="zh-CN" sz="3600" dirty="0">
              <a:solidFill>
                <a:schemeClr val="bg2"/>
              </a:solidFill>
            </a:endParaRPr>
          </a:p>
          <a:p>
            <a:r>
              <a:rPr lang="zh-CN" altLang="en-US" sz="3600" dirty="0">
                <a:solidFill>
                  <a:schemeClr val="bg2"/>
                </a:solidFill>
              </a:rPr>
              <a:t>验证 </a:t>
            </a:r>
            <a:r>
              <a:rPr lang="en-US" altLang="zh-CN" sz="3600" dirty="0">
                <a:solidFill>
                  <a:schemeClr val="bg2"/>
                </a:solidFill>
              </a:rPr>
              <a:t>.ko </a:t>
            </a:r>
            <a:r>
              <a:rPr lang="zh-CN" altLang="en-US" sz="3600" dirty="0">
                <a:solidFill>
                  <a:schemeClr val="bg2"/>
                </a:solidFill>
              </a:rPr>
              <a:t>能够开启 </a:t>
            </a:r>
            <a:r>
              <a:rPr lang="en-US" altLang="zh-CN" sz="3600" dirty="0" err="1">
                <a:solidFill>
                  <a:schemeClr val="bg2"/>
                </a:solidFill>
              </a:rPr>
              <a:t>KernelSU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了以后，可以把 </a:t>
            </a:r>
            <a:r>
              <a:rPr lang="en-US" altLang="zh-CN" sz="3600" dirty="0" err="1">
                <a:solidFill>
                  <a:schemeClr val="bg2"/>
                </a:solidFill>
              </a:rPr>
              <a:t>insmod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命令写入 </a:t>
            </a:r>
            <a:r>
              <a:rPr lang="en-US" altLang="zh-CN" sz="3600" dirty="0" err="1">
                <a:solidFill>
                  <a:schemeClr val="bg2"/>
                </a:solidFill>
              </a:rPr>
              <a:t>dual_boot_ramfs.cpio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 </a:t>
            </a:r>
            <a:r>
              <a:rPr lang="en-US" altLang="zh-CN" sz="3600" dirty="0" err="1">
                <a:solidFill>
                  <a:schemeClr val="bg2"/>
                </a:solidFill>
              </a:rPr>
              <a:t>init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的部分，并把 </a:t>
            </a:r>
            <a:r>
              <a:rPr lang="en-US" altLang="zh-CN" sz="3600" dirty="0">
                <a:solidFill>
                  <a:schemeClr val="bg2"/>
                </a:solidFill>
              </a:rPr>
              <a:t>.ko </a:t>
            </a:r>
            <a:r>
              <a:rPr lang="zh-CN" altLang="en-US" sz="3600" dirty="0">
                <a:solidFill>
                  <a:schemeClr val="bg2"/>
                </a:solidFill>
              </a:rPr>
              <a:t>一起打包进去，使 </a:t>
            </a:r>
            <a:r>
              <a:rPr lang="en-US" altLang="zh-CN" sz="3600" dirty="0">
                <a:solidFill>
                  <a:schemeClr val="bg2"/>
                </a:solidFill>
              </a:rPr>
              <a:t>.ko </a:t>
            </a:r>
            <a:r>
              <a:rPr lang="zh-CN" altLang="en-US" sz="3600" dirty="0">
                <a:solidFill>
                  <a:schemeClr val="bg2"/>
                </a:solidFill>
              </a:rPr>
              <a:t>在进入操作系统之前完成加载。</a:t>
            </a:r>
            <a:endParaRPr lang="en-US" altLang="zh-CN" sz="3600" dirty="0">
              <a:solidFill>
                <a:schemeClr val="bg2"/>
              </a:solidFill>
            </a:endParaRPr>
          </a:p>
          <a:p>
            <a:r>
              <a:rPr lang="zh-CN" altLang="en-US" sz="3600" dirty="0">
                <a:solidFill>
                  <a:schemeClr val="bg2"/>
                </a:solidFill>
              </a:rPr>
              <a:t>我可以把修补后的 </a:t>
            </a:r>
            <a:r>
              <a:rPr lang="en-US" altLang="zh-CN" sz="3600" dirty="0" err="1">
                <a:solidFill>
                  <a:schemeClr val="bg2"/>
                </a:solidFill>
              </a:rPr>
              <a:t>initrd_ksu_fydeos.cpio</a:t>
            </a:r>
            <a:r>
              <a:rPr lang="zh-CN" altLang="en-US" sz="3600" dirty="0">
                <a:solidFill>
                  <a:schemeClr val="bg2"/>
                </a:solidFill>
              </a:rPr>
              <a:t> 一起打包进 </a:t>
            </a:r>
            <a:r>
              <a:rPr lang="en-US" altLang="zh-CN" sz="3600" dirty="0">
                <a:solidFill>
                  <a:schemeClr val="bg2"/>
                </a:solidFill>
              </a:rPr>
              <a:t>grub2-fyde.efi </a:t>
            </a:r>
            <a:r>
              <a:rPr lang="zh-CN" altLang="en-US" sz="3600" dirty="0">
                <a:solidFill>
                  <a:schemeClr val="bg2"/>
                </a:solidFill>
              </a:rPr>
              <a:t>当中，达到一个 </a:t>
            </a:r>
            <a:r>
              <a:rPr lang="en-US" altLang="zh-CN" sz="3600" dirty="0">
                <a:solidFill>
                  <a:schemeClr val="bg2"/>
                </a:solidFill>
              </a:rPr>
              <a:t>.</a:t>
            </a:r>
            <a:r>
              <a:rPr lang="en-US" altLang="zh-CN" sz="3600" dirty="0" err="1">
                <a:solidFill>
                  <a:schemeClr val="bg2"/>
                </a:solidFill>
              </a:rPr>
              <a:t>efi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文件搞定 </a:t>
            </a:r>
            <a:r>
              <a:rPr lang="en-US" altLang="zh-CN" sz="3600" dirty="0" err="1">
                <a:solidFill>
                  <a:schemeClr val="bg2"/>
                </a:solidFill>
              </a:rPr>
              <a:t>KernelSU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的效果。并且设置优先加载 “</a:t>
            </a:r>
            <a:r>
              <a:rPr lang="en-US" altLang="zh-CN" sz="3600" dirty="0">
                <a:solidFill>
                  <a:schemeClr val="bg2"/>
                </a:solidFill>
              </a:rPr>
              <a:t>${</a:t>
            </a:r>
            <a:r>
              <a:rPr lang="en-US" altLang="zh-CN" sz="3600" dirty="0" err="1">
                <a:solidFill>
                  <a:schemeClr val="bg2"/>
                </a:solidFill>
              </a:rPr>
              <a:t>cmdpath</a:t>
            </a:r>
            <a:r>
              <a:rPr lang="en-US" altLang="zh-CN" sz="3600" dirty="0">
                <a:solidFill>
                  <a:schemeClr val="bg2"/>
                </a:solidFill>
              </a:rPr>
              <a:t>}/experimental/</a:t>
            </a:r>
            <a:r>
              <a:rPr lang="en-US" altLang="zh-CN" sz="3600" dirty="0" err="1">
                <a:solidFill>
                  <a:schemeClr val="bg2"/>
                </a:solidFill>
              </a:rPr>
              <a:t>KernelSU</a:t>
            </a:r>
            <a:r>
              <a:rPr lang="en-US" altLang="zh-CN" sz="3600" dirty="0">
                <a:solidFill>
                  <a:schemeClr val="bg2"/>
                </a:solidFill>
              </a:rPr>
              <a:t>/</a:t>
            </a:r>
            <a:r>
              <a:rPr lang="en-US" altLang="zh-CN" sz="3600" dirty="0" err="1">
                <a:solidFill>
                  <a:schemeClr val="bg2"/>
                </a:solidFill>
              </a:rPr>
              <a:t>initrd_ksu_fydeos.cpio</a:t>
            </a:r>
            <a:r>
              <a:rPr lang="zh-CN" altLang="en-US" sz="3600" dirty="0">
                <a:solidFill>
                  <a:schemeClr val="bg2"/>
                </a:solidFill>
              </a:rPr>
              <a:t>”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，用于 开发验证 或 更新。</a:t>
            </a:r>
            <a:endParaRPr lang="en-US" altLang="zh-CN" sz="3600" dirty="0">
              <a:solidFill>
                <a:schemeClr val="bg2"/>
              </a:solidFill>
            </a:endParaRPr>
          </a:p>
          <a:p>
            <a:r>
              <a:rPr lang="zh-CN" altLang="en-US" sz="3600" dirty="0">
                <a:solidFill>
                  <a:schemeClr val="bg2"/>
                </a:solidFill>
              </a:rPr>
              <a:t>修补后的</a:t>
            </a:r>
            <a:r>
              <a:rPr lang="en-US" altLang="zh-CN" sz="3600" dirty="0">
                <a:solidFill>
                  <a:schemeClr val="bg2"/>
                </a:solidFill>
              </a:rPr>
              <a:t>.</a:t>
            </a:r>
            <a:r>
              <a:rPr lang="en-US" altLang="zh-CN" sz="3600" dirty="0" err="1">
                <a:solidFill>
                  <a:schemeClr val="bg2"/>
                </a:solidFill>
              </a:rPr>
              <a:t>cpio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是 </a:t>
            </a:r>
            <a:r>
              <a:rPr lang="en-US" altLang="zh-CN" sz="3600" dirty="0" err="1">
                <a:solidFill>
                  <a:schemeClr val="bg2"/>
                </a:solidFill>
              </a:rPr>
              <a:t>fydeOS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的四大分支版本通用的，支持 </a:t>
            </a:r>
            <a:r>
              <a:rPr lang="en-US" altLang="zh-CN" sz="3600" dirty="0">
                <a:solidFill>
                  <a:schemeClr val="bg2"/>
                </a:solidFill>
              </a:rPr>
              <a:t>OTA </a:t>
            </a:r>
            <a:r>
              <a:rPr lang="zh-CN" altLang="en-US" sz="3600" dirty="0">
                <a:solidFill>
                  <a:schemeClr val="bg2"/>
                </a:solidFill>
              </a:rPr>
              <a:t>等更新，不必反复修补内核。</a:t>
            </a:r>
            <a:endParaRPr lang="en-US" altLang="zh-CN" sz="3600" dirty="0">
              <a:solidFill>
                <a:schemeClr val="bg2"/>
              </a:solidFill>
            </a:endParaRPr>
          </a:p>
          <a:p>
            <a:r>
              <a:rPr lang="zh-CN" altLang="en-US" sz="3600" dirty="0">
                <a:solidFill>
                  <a:schemeClr val="bg2"/>
                </a:solidFill>
              </a:rPr>
              <a:t>如果你特别急用，你可以节约几杯奶茶去打赏那些头像是漂亮的二次元小姐姐，并且 </a:t>
            </a:r>
            <a:r>
              <a:rPr lang="en-US" altLang="zh-CN" sz="3600" dirty="0" err="1">
                <a:solidFill>
                  <a:schemeClr val="bg2"/>
                </a:solidFill>
              </a:rPr>
              <a:t>KenrelSU</a:t>
            </a:r>
            <a:r>
              <a:rPr lang="en-US" altLang="zh-CN" sz="3600" dirty="0">
                <a:solidFill>
                  <a:schemeClr val="bg2"/>
                </a:solidFill>
              </a:rPr>
              <a:t> </a:t>
            </a:r>
            <a:r>
              <a:rPr lang="zh-CN" altLang="en-US" sz="3600" dirty="0">
                <a:solidFill>
                  <a:schemeClr val="bg2"/>
                </a:solidFill>
              </a:rPr>
              <a:t>玩得很通透的人。让 </a:t>
            </a:r>
            <a:r>
              <a:rPr lang="en-US" altLang="zh-CN" sz="3600" dirty="0" err="1">
                <a:solidFill>
                  <a:schemeClr val="bg2"/>
                </a:solidFill>
              </a:rPr>
              <a:t>tā</a:t>
            </a:r>
            <a:r>
              <a:rPr lang="zh-CN" altLang="en-US" sz="3600" dirty="0">
                <a:solidFill>
                  <a:schemeClr val="bg2"/>
                </a:solidFill>
              </a:rPr>
              <a:t>们 提供技术支持帮帮你。</a:t>
            </a:r>
            <a:r>
              <a:rPr lang="zh-CN" altLang="en-US" sz="2800" dirty="0">
                <a:solidFill>
                  <a:schemeClr val="bg2"/>
                </a:solidFill>
              </a:rPr>
              <a:t>实不相瞒，我手机还停留在 </a:t>
            </a:r>
            <a:r>
              <a:rPr lang="en-US" altLang="zh-CN" sz="2800" dirty="0" err="1">
                <a:solidFill>
                  <a:schemeClr val="bg2"/>
                </a:solidFill>
              </a:rPr>
              <a:t>Magisk</a:t>
            </a:r>
            <a:r>
              <a:rPr lang="zh-CN" altLang="en-US" sz="2800" dirty="0">
                <a:solidFill>
                  <a:schemeClr val="bg2"/>
                </a:solidFill>
              </a:rPr>
              <a:t>，而且业余时间要制作其他的主题。</a:t>
            </a:r>
            <a:r>
              <a:rPr lang="en-US" altLang="zh-CN" sz="2800" dirty="0" err="1">
                <a:solidFill>
                  <a:schemeClr val="bg2"/>
                </a:solidFill>
              </a:rPr>
              <a:t>KernelSU</a:t>
            </a:r>
            <a:r>
              <a:rPr lang="en-US" altLang="zh-CN" sz="2800" dirty="0">
                <a:solidFill>
                  <a:schemeClr val="bg2"/>
                </a:solidFill>
              </a:rPr>
              <a:t> </a:t>
            </a:r>
            <a:r>
              <a:rPr lang="zh-CN" altLang="en-US" sz="2800" dirty="0">
                <a:solidFill>
                  <a:schemeClr val="bg2"/>
                </a:solidFill>
              </a:rPr>
              <a:t>这一块的我 如同 杀鸡刀宰牛</a:t>
            </a:r>
            <a:r>
              <a:rPr lang="en-US" altLang="zh-CN" sz="2800" dirty="0">
                <a:solidFill>
                  <a:schemeClr val="bg2"/>
                </a:solidFill>
              </a:rPr>
              <a:t>……</a:t>
            </a:r>
            <a:r>
              <a:rPr lang="zh-CN" altLang="en-US" sz="2800" dirty="0">
                <a:solidFill>
                  <a:schemeClr val="bg2"/>
                </a:solidFill>
              </a:rPr>
              <a:t>去请牛刀吧！！！</a:t>
            </a:r>
            <a:endParaRPr lang="en-US" altLang="zh-CN" sz="4000" dirty="0">
              <a:solidFill>
                <a:schemeClr val="bg2"/>
              </a:solidFill>
            </a:endParaRPr>
          </a:p>
          <a:p>
            <a:endParaRPr lang="en-US" altLang="zh-CN" sz="3600" dirty="0">
              <a:solidFill>
                <a:schemeClr val="bg2"/>
              </a:solidFill>
            </a:endParaRPr>
          </a:p>
          <a:p>
            <a:endParaRPr lang="zh-CN" altLang="en-US" sz="4000" dirty="0">
              <a:solidFill>
                <a:schemeClr val="bg2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8A46F0-EB15-B9A5-3442-8013CBF644C2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216721" y="328702"/>
            <a:ext cx="2249939" cy="2249939"/>
          </a:xfrm>
          <a:prstGeom prst="rect">
            <a:avLst/>
          </a:prstGeom>
        </p:spPr>
      </p:pic>
      <p:sp>
        <p:nvSpPr>
          <p:cNvPr id="7" name="箭头: 左 6">
            <a:extLst>
              <a:ext uri="{FF2B5EF4-FFF2-40B4-BE49-F238E27FC236}">
                <a16:creationId xmlns:a16="http://schemas.microsoft.com/office/drawing/2014/main" id="{9C32712B-DB49-EFF6-DBBD-1ADA22AA5FCB}"/>
              </a:ext>
            </a:extLst>
          </p:cNvPr>
          <p:cNvSpPr/>
          <p:nvPr/>
        </p:nvSpPr>
        <p:spPr>
          <a:xfrm>
            <a:off x="157065" y="13050640"/>
            <a:ext cx="4499878" cy="1349963"/>
          </a:xfrm>
          <a:prstGeom prst="leftArrow">
            <a:avLst>
              <a:gd name="adj1" fmla="val 10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上一页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ctr"/>
            <a:r>
              <a:rPr lang="en-US" altLang="zh-CN" sz="4000" dirty="0">
                <a:solidFill>
                  <a:schemeClr val="tx1"/>
                </a:solidFill>
              </a:rPr>
              <a:t>【Back Space】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45FF42B-74E0-B40D-7A0D-7C3DC7E28F8F}"/>
              </a:ext>
            </a:extLst>
          </p:cNvPr>
          <p:cNvSpPr/>
          <p:nvPr/>
        </p:nvSpPr>
        <p:spPr>
          <a:xfrm>
            <a:off x="14850259" y="13050640"/>
            <a:ext cx="4499878" cy="1349963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下一页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ctr"/>
            <a:r>
              <a:rPr lang="en-US" altLang="zh-CN" sz="4000" dirty="0">
                <a:solidFill>
                  <a:schemeClr val="tx1"/>
                </a:solidFill>
              </a:rPr>
              <a:t>【Tab】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834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5D6414CE-F4AE-FC84-E189-4D48F7B64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" t="27888" r="59968" b="49165"/>
          <a:stretch>
            <a:fillRect/>
          </a:stretch>
        </p:blipFill>
        <p:spPr>
          <a:xfrm>
            <a:off x="4919673" y="10483702"/>
            <a:ext cx="8612372" cy="41457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E06C4E9-E626-69B8-C4D0-075CE549C4A1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</a:blip>
          <a:srcRect b="14698"/>
          <a:stretch>
            <a:fillRect/>
          </a:stretch>
        </p:blipFill>
        <p:spPr>
          <a:xfrm>
            <a:off x="12480951" y="-2600"/>
            <a:ext cx="7026249" cy="115905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A74B25E-ACF1-2F7F-F728-9A23EA561F58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216656" y="324985"/>
            <a:ext cx="2249939" cy="2249939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13DCD758-72F7-7B09-F7B0-B34210831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692" y="39930"/>
            <a:ext cx="10600405" cy="2827483"/>
          </a:xfrm>
        </p:spPr>
        <p:txBody>
          <a:bodyPr>
            <a:noAutofit/>
          </a:bodyPr>
          <a:lstStyle/>
          <a:p>
            <a:pPr algn="ctr"/>
            <a:r>
              <a:rPr lang="zh-CN" altLang="en-US" sz="7000" dirty="0">
                <a:solidFill>
                  <a:schemeClr val="bg2"/>
                </a:solidFill>
              </a:rPr>
              <a:t>关于 </a:t>
            </a:r>
            <a:r>
              <a:rPr lang="en-US" altLang="zh-CN" sz="7000" dirty="0" err="1">
                <a:solidFill>
                  <a:schemeClr val="bg2"/>
                </a:solidFill>
              </a:rPr>
              <a:t>APatch</a:t>
            </a:r>
            <a:r>
              <a:rPr lang="en-US" altLang="zh-CN" sz="7000" dirty="0">
                <a:solidFill>
                  <a:schemeClr val="bg2"/>
                </a:solidFill>
              </a:rPr>
              <a:t> </a:t>
            </a:r>
            <a:r>
              <a:rPr lang="zh-CN" altLang="en-US" sz="7000" dirty="0">
                <a:solidFill>
                  <a:schemeClr val="bg2"/>
                </a:solidFill>
              </a:rPr>
              <a:t>的分析</a:t>
            </a:r>
            <a:r>
              <a:rPr lang="en-US" altLang="zh-CN" sz="7000" dirty="0">
                <a:solidFill>
                  <a:schemeClr val="bg2"/>
                </a:solidFill>
              </a:rPr>
              <a:t> </a:t>
            </a:r>
            <a:endParaRPr lang="zh-CN" altLang="en-US" sz="7000" dirty="0">
              <a:solidFill>
                <a:schemeClr val="bg2"/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864A313-727D-2876-010E-F275862C6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" y="1845940"/>
            <a:ext cx="11941436" cy="1172305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3500" dirty="0">
              <a:solidFill>
                <a:schemeClr val="bg2"/>
              </a:solidFill>
            </a:endParaRPr>
          </a:p>
          <a:p>
            <a:r>
              <a:rPr lang="zh-CN" altLang="en-US" sz="4000" dirty="0">
                <a:solidFill>
                  <a:schemeClr val="bg2"/>
                </a:solidFill>
              </a:rPr>
              <a:t>虽然 </a:t>
            </a:r>
            <a:r>
              <a:rPr lang="en-US" altLang="zh-CN" sz="4000" dirty="0" err="1">
                <a:solidFill>
                  <a:schemeClr val="bg2"/>
                </a:solidFill>
              </a:rPr>
              <a:t>APatch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官方表态仅支持 </a:t>
            </a:r>
            <a:r>
              <a:rPr lang="en-US" altLang="zh-CN" sz="4000" dirty="0">
                <a:solidFill>
                  <a:schemeClr val="bg2"/>
                </a:solidFill>
              </a:rPr>
              <a:t>ARM64</a:t>
            </a:r>
            <a:r>
              <a:rPr lang="zh-CN" altLang="en-US" sz="4000" dirty="0">
                <a:solidFill>
                  <a:schemeClr val="bg2"/>
                </a:solidFill>
              </a:rPr>
              <a:t>，但解包 </a:t>
            </a:r>
            <a:r>
              <a:rPr lang="en-US" altLang="zh-CN" sz="4000" dirty="0">
                <a:solidFill>
                  <a:schemeClr val="bg2"/>
                </a:solidFill>
              </a:rPr>
              <a:t>.</a:t>
            </a:r>
            <a:r>
              <a:rPr lang="en-US" altLang="zh-CN" sz="4000" dirty="0" err="1">
                <a:solidFill>
                  <a:schemeClr val="bg2"/>
                </a:solidFill>
              </a:rPr>
              <a:t>apk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发现，有 </a:t>
            </a:r>
            <a:r>
              <a:rPr lang="en-US" altLang="zh-CN" sz="4000" dirty="0">
                <a:solidFill>
                  <a:schemeClr val="bg2"/>
                </a:solidFill>
              </a:rPr>
              <a:t>x86_64 </a:t>
            </a:r>
            <a:r>
              <a:rPr lang="zh-CN" altLang="en-US" sz="4000" dirty="0">
                <a:solidFill>
                  <a:schemeClr val="bg2"/>
                </a:solidFill>
              </a:rPr>
              <a:t>的运行库，如图。至少，摸索 </a:t>
            </a:r>
            <a:r>
              <a:rPr lang="en-US" altLang="zh-CN" sz="4000" dirty="0" err="1">
                <a:solidFill>
                  <a:schemeClr val="bg2"/>
                </a:solidFill>
              </a:rPr>
              <a:t>APatch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的时候，不用重新编译 </a:t>
            </a:r>
            <a:r>
              <a:rPr lang="en-US" altLang="zh-CN" sz="4000" dirty="0">
                <a:solidFill>
                  <a:schemeClr val="bg2"/>
                </a:solidFill>
              </a:rPr>
              <a:t>.</a:t>
            </a:r>
            <a:r>
              <a:rPr lang="en-US" altLang="zh-CN" sz="4000" dirty="0" err="1">
                <a:solidFill>
                  <a:schemeClr val="bg2"/>
                </a:solidFill>
              </a:rPr>
              <a:t>apk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啦。</a:t>
            </a:r>
            <a:endParaRPr lang="en-US" altLang="zh-CN" sz="4000" dirty="0">
              <a:solidFill>
                <a:schemeClr val="bg2"/>
              </a:solidFill>
            </a:endParaRPr>
          </a:p>
          <a:p>
            <a:r>
              <a:rPr lang="en-US" altLang="zh-CN" sz="4000" dirty="0" err="1">
                <a:solidFill>
                  <a:schemeClr val="bg2"/>
                </a:solidFill>
              </a:rPr>
              <a:t>APatch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要求内核启用 </a:t>
            </a:r>
            <a:r>
              <a:rPr lang="en-US" altLang="zh-CN" sz="4000" dirty="0" err="1">
                <a:solidFill>
                  <a:schemeClr val="bg2"/>
                </a:solidFill>
              </a:rPr>
              <a:t>kallsyms</a:t>
            </a:r>
            <a:r>
              <a:rPr lang="zh-CN" altLang="en-US" sz="4000" dirty="0">
                <a:solidFill>
                  <a:schemeClr val="bg2"/>
                </a:solidFill>
              </a:rPr>
              <a:t>，绝大多数新版本的内核都支持。 “</a:t>
            </a:r>
            <a:r>
              <a:rPr lang="en-US" altLang="zh-CN" sz="4000" dirty="0">
                <a:solidFill>
                  <a:schemeClr val="bg2"/>
                </a:solidFill>
              </a:rPr>
              <a:t>cat /proc/</a:t>
            </a:r>
            <a:r>
              <a:rPr lang="en-US" altLang="zh-CN" sz="4000" dirty="0" err="1">
                <a:solidFill>
                  <a:schemeClr val="bg2"/>
                </a:solidFill>
              </a:rPr>
              <a:t>kallsyms</a:t>
            </a:r>
            <a:r>
              <a:rPr lang="en-US" altLang="zh-CN" sz="4000" dirty="0">
                <a:solidFill>
                  <a:schemeClr val="bg2"/>
                </a:solidFill>
              </a:rPr>
              <a:t>”</a:t>
            </a:r>
            <a:r>
              <a:rPr lang="zh-CN" altLang="en-US" sz="4000" dirty="0">
                <a:solidFill>
                  <a:schemeClr val="bg2"/>
                </a:solidFill>
              </a:rPr>
              <a:t>发现 </a:t>
            </a:r>
            <a:r>
              <a:rPr lang="en-US" altLang="zh-CN" sz="4000" dirty="0" err="1">
                <a:solidFill>
                  <a:schemeClr val="bg2"/>
                </a:solidFill>
              </a:rPr>
              <a:t>fydeOS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的该文件不为空，有千万行数据，应该是支持的。可以举一反三，用</a:t>
            </a:r>
            <a:r>
              <a:rPr lang="en-US" altLang="zh-CN" sz="4000" dirty="0" err="1">
                <a:solidFill>
                  <a:schemeClr val="bg2"/>
                </a:solidFill>
              </a:rPr>
              <a:t>KernelPatch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的原理，尝试 </a:t>
            </a:r>
            <a:r>
              <a:rPr lang="en-US" altLang="zh-CN" sz="4000" dirty="0">
                <a:solidFill>
                  <a:schemeClr val="bg2"/>
                </a:solidFill>
              </a:rPr>
              <a:t>x86_64 </a:t>
            </a:r>
            <a:r>
              <a:rPr lang="zh-CN" altLang="en-US" sz="4000" dirty="0">
                <a:solidFill>
                  <a:schemeClr val="bg2"/>
                </a:solidFill>
              </a:rPr>
              <a:t>架构的反编译修补。</a:t>
            </a:r>
            <a:r>
              <a:rPr lang="zh-CN" altLang="en-US" sz="8000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馫</a:t>
            </a:r>
            <a:r>
              <a:rPr lang="en-US" altLang="zh-CN" sz="8000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8000" dirty="0" err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xīn</a:t>
            </a:r>
            <a:r>
              <a:rPr lang="en-US" altLang="zh-CN" sz="8000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4000" dirty="0">
                <a:solidFill>
                  <a:schemeClr val="bg2"/>
                </a:solidFill>
                <a:latin typeface="+mn-ea"/>
                <a:ea typeface="楷体" panose="02010609060101010101" pitchFamily="49" charset="-122"/>
              </a:rPr>
              <a:t>气</a:t>
            </a:r>
            <a:r>
              <a:rPr lang="zh-CN" altLang="en-US" sz="4000" dirty="0">
                <a:solidFill>
                  <a:schemeClr val="bg2"/>
                </a:solidFill>
                <a:latin typeface="+mn-ea"/>
              </a:rPr>
              <a:t>在于，官方内核足以，省去扒源代码，打补丁，编译等繁琐步骤。成功以后，在 </a:t>
            </a:r>
            <a:r>
              <a:rPr lang="en-US" altLang="zh-CN" sz="4000" dirty="0" err="1">
                <a:solidFill>
                  <a:schemeClr val="bg2"/>
                </a:solidFill>
                <a:latin typeface="+mn-ea"/>
              </a:rPr>
              <a:t>github</a:t>
            </a:r>
            <a:r>
              <a:rPr lang="en-US" altLang="zh-CN" sz="4000" dirty="0">
                <a:solidFill>
                  <a:schemeClr val="bg2"/>
                </a:solidFill>
                <a:latin typeface="+mn-ea"/>
              </a:rPr>
              <a:t> </a:t>
            </a:r>
            <a:r>
              <a:rPr lang="zh-CN" altLang="en-US" sz="4000" dirty="0">
                <a:solidFill>
                  <a:schemeClr val="bg2"/>
                </a:solidFill>
                <a:latin typeface="+mn-ea"/>
              </a:rPr>
              <a:t>上 </a:t>
            </a:r>
            <a:r>
              <a:rPr lang="en-US" altLang="zh-CN" sz="4000" dirty="0">
                <a:solidFill>
                  <a:schemeClr val="bg2"/>
                </a:solidFill>
                <a:latin typeface="+mn-ea"/>
              </a:rPr>
              <a:t>pull request</a:t>
            </a:r>
            <a:r>
              <a:rPr lang="zh-CN" altLang="en-US" sz="4000" dirty="0">
                <a:solidFill>
                  <a:schemeClr val="bg2"/>
                </a:solidFill>
                <a:latin typeface="+mn-ea"/>
              </a:rPr>
              <a:t>，我相信 </a:t>
            </a:r>
            <a:r>
              <a:rPr lang="en-US" altLang="zh-CN" sz="4000" dirty="0" err="1">
                <a:solidFill>
                  <a:schemeClr val="bg2"/>
                </a:solidFill>
                <a:latin typeface="+mn-ea"/>
              </a:rPr>
              <a:t>APatch</a:t>
            </a:r>
            <a:r>
              <a:rPr lang="en-US" altLang="zh-CN" sz="4000" dirty="0">
                <a:solidFill>
                  <a:schemeClr val="bg2"/>
                </a:solidFill>
                <a:latin typeface="+mn-ea"/>
              </a:rPr>
              <a:t> </a:t>
            </a:r>
            <a:r>
              <a:rPr lang="zh-CN" altLang="en-US" sz="4000" dirty="0">
                <a:solidFill>
                  <a:schemeClr val="bg2"/>
                </a:solidFill>
                <a:latin typeface="+mn-ea"/>
              </a:rPr>
              <a:t>那边愿意合并的</a:t>
            </a:r>
            <a:r>
              <a:rPr lang="zh-CN" altLang="en-US" sz="3500" dirty="0">
                <a:solidFill>
                  <a:schemeClr val="bg2"/>
                </a:solidFill>
                <a:latin typeface="+mn-ea"/>
              </a:rPr>
              <a:t>。</a:t>
            </a:r>
            <a:endParaRPr lang="en-US" altLang="zh-CN" dirty="0">
              <a:solidFill>
                <a:schemeClr val="bg2"/>
              </a:solidFill>
              <a:latin typeface="+mn-ea"/>
            </a:endParaRPr>
          </a:p>
          <a:p>
            <a:r>
              <a:rPr lang="zh-CN" altLang="en-US" sz="4000" dirty="0">
                <a:solidFill>
                  <a:schemeClr val="bg2"/>
                </a:solidFill>
              </a:rPr>
              <a:t>如果你特别急用，可以尝试打赏 </a:t>
            </a:r>
            <a:r>
              <a:rPr lang="en-US" altLang="zh-CN" sz="4000" dirty="0" err="1">
                <a:solidFill>
                  <a:schemeClr val="bg2"/>
                </a:solidFill>
              </a:rPr>
              <a:t>KernelPatch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那边的大佬。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4604A43-171C-97E1-79C0-39FFFEEC0973}"/>
              </a:ext>
            </a:extLst>
          </p:cNvPr>
          <p:cNvSpPr/>
          <p:nvPr/>
        </p:nvSpPr>
        <p:spPr>
          <a:xfrm>
            <a:off x="14850259" y="13050640"/>
            <a:ext cx="4499878" cy="1349963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下一页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ctr"/>
            <a:r>
              <a:rPr lang="en-US" altLang="zh-CN" sz="4000" dirty="0">
                <a:solidFill>
                  <a:schemeClr val="tx1"/>
                </a:solidFill>
              </a:rPr>
              <a:t>【Tab】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9" name="箭头: 左 8">
            <a:extLst>
              <a:ext uri="{FF2B5EF4-FFF2-40B4-BE49-F238E27FC236}">
                <a16:creationId xmlns:a16="http://schemas.microsoft.com/office/drawing/2014/main" id="{D5F6B60F-51B3-995D-2937-325B6612C8EE}"/>
              </a:ext>
            </a:extLst>
          </p:cNvPr>
          <p:cNvSpPr/>
          <p:nvPr/>
        </p:nvSpPr>
        <p:spPr>
          <a:xfrm>
            <a:off x="157065" y="13050640"/>
            <a:ext cx="4499878" cy="1349963"/>
          </a:xfrm>
          <a:prstGeom prst="leftArrow">
            <a:avLst>
              <a:gd name="adj1" fmla="val 10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上一页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ctr"/>
            <a:r>
              <a:rPr lang="en-US" altLang="zh-CN" sz="4000" dirty="0">
                <a:solidFill>
                  <a:schemeClr val="tx1"/>
                </a:solidFill>
              </a:rPr>
              <a:t>【Back Space】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12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1A24B-A384-983D-72DF-E89717C8F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" y="995"/>
            <a:ext cx="9100211" cy="1570025"/>
          </a:xfrm>
        </p:spPr>
        <p:txBody>
          <a:bodyPr>
            <a:noAutofit/>
          </a:bodyPr>
          <a:lstStyle/>
          <a:p>
            <a:r>
              <a:rPr lang="zh-CN" altLang="en-US" sz="7000" dirty="0">
                <a:solidFill>
                  <a:schemeClr val="bg2"/>
                </a:solidFill>
              </a:rPr>
              <a:t>关于类 </a:t>
            </a:r>
            <a:r>
              <a:rPr lang="en-US" altLang="zh-CN" sz="7000" dirty="0" err="1">
                <a:solidFill>
                  <a:schemeClr val="bg2"/>
                </a:solidFill>
              </a:rPr>
              <a:t>Magisk</a:t>
            </a:r>
            <a:r>
              <a:rPr lang="en-US" altLang="zh-CN" sz="7000" dirty="0">
                <a:solidFill>
                  <a:schemeClr val="bg2"/>
                </a:solidFill>
              </a:rPr>
              <a:t> </a:t>
            </a:r>
            <a:r>
              <a:rPr lang="zh-CN" altLang="en-US" sz="7000" dirty="0">
                <a:solidFill>
                  <a:schemeClr val="bg2"/>
                </a:solidFill>
              </a:rPr>
              <a:t>的分析</a:t>
            </a:r>
            <a:endParaRPr lang="zh-CN" altLang="en-US" sz="7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07D98B-C478-5869-A07E-040124135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" y="1923774"/>
            <a:ext cx="9100213" cy="12705635"/>
          </a:xfrm>
        </p:spPr>
        <p:txBody>
          <a:bodyPr vert="horz" lIns="228594" tIns="114297" rIns="228594" bIns="114297" rtlCol="0">
            <a:normAutofit/>
          </a:bodyPr>
          <a:lstStyle/>
          <a:p>
            <a:r>
              <a:rPr lang="en-US" altLang="zh-CN" sz="4000" dirty="0" err="1">
                <a:solidFill>
                  <a:schemeClr val="bg2"/>
                </a:solidFill>
              </a:rPr>
              <a:t>Magisk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及其分支创建指定的挂载路径，达到 </a:t>
            </a:r>
            <a:r>
              <a:rPr lang="en-US" altLang="zh-CN" sz="4000" dirty="0" err="1">
                <a:solidFill>
                  <a:schemeClr val="bg2"/>
                </a:solidFill>
              </a:rPr>
              <a:t>Systemless</a:t>
            </a:r>
            <a:r>
              <a:rPr lang="en-US" altLang="zh-CN" sz="4000" dirty="0">
                <a:solidFill>
                  <a:schemeClr val="bg2"/>
                </a:solidFill>
              </a:rPr>
              <a:t> Root </a:t>
            </a:r>
            <a:r>
              <a:rPr lang="zh-CN" altLang="en-US" sz="4000" dirty="0">
                <a:solidFill>
                  <a:schemeClr val="bg2"/>
                </a:solidFill>
              </a:rPr>
              <a:t>的效果。因此，这个方向与 容器启动前 路径的挂载有关。</a:t>
            </a:r>
            <a:endParaRPr lang="en-US" altLang="zh-CN" sz="4000" dirty="0">
              <a:solidFill>
                <a:schemeClr val="bg2"/>
              </a:solidFill>
            </a:endParaRPr>
          </a:p>
          <a:p>
            <a:r>
              <a:rPr lang="en-US" altLang="zh-CN" sz="4000" dirty="0" err="1">
                <a:solidFill>
                  <a:schemeClr val="bg2"/>
                </a:solidFill>
              </a:rPr>
              <a:t>fydeOS</a:t>
            </a:r>
            <a:r>
              <a:rPr lang="en-US" altLang="zh-CN" sz="4000" dirty="0">
                <a:solidFill>
                  <a:schemeClr val="bg2"/>
                </a:solidFill>
              </a:rPr>
              <a:t> </a:t>
            </a:r>
            <a:r>
              <a:rPr lang="zh-CN" altLang="en-US" sz="4000" dirty="0">
                <a:solidFill>
                  <a:schemeClr val="bg2"/>
                </a:solidFill>
              </a:rPr>
              <a:t>的 </a:t>
            </a:r>
            <a:r>
              <a:rPr lang="en-US" altLang="zh-CN" sz="4000" dirty="0">
                <a:solidFill>
                  <a:schemeClr val="bg2"/>
                </a:solidFill>
              </a:rPr>
              <a:t>Android </a:t>
            </a:r>
            <a:r>
              <a:rPr lang="zh-CN" altLang="en-US" sz="4000" dirty="0">
                <a:solidFill>
                  <a:schemeClr val="bg2"/>
                </a:solidFill>
              </a:rPr>
              <a:t>容器 的 路径挂载配置文件 如右图所示。修改这个文件能否达到自定义的效果尚未验证。</a:t>
            </a:r>
            <a:endParaRPr lang="en-US" altLang="zh-CN" sz="4000" dirty="0">
              <a:solidFill>
                <a:schemeClr val="bg2"/>
              </a:solidFill>
            </a:endParaRPr>
          </a:p>
          <a:p>
            <a:r>
              <a:rPr lang="zh-CN" altLang="en-US" sz="4000" dirty="0">
                <a:solidFill>
                  <a:schemeClr val="bg2"/>
                </a:solidFill>
              </a:rPr>
              <a:t>此路照样曲折，即便摸索成功，教程也会繁琐，不像前二者，图形界面复制粘贴成功的内核文件就能搞定。</a:t>
            </a:r>
            <a:endParaRPr lang="en-US" altLang="zh-CN" sz="4000" dirty="0">
              <a:solidFill>
                <a:schemeClr val="bg2"/>
              </a:solidFill>
            </a:endParaRPr>
          </a:p>
          <a:p>
            <a:r>
              <a:rPr lang="zh-CN" altLang="en-US" sz="4000" dirty="0">
                <a:solidFill>
                  <a:schemeClr val="bg2"/>
                </a:solidFill>
              </a:rPr>
              <a:t>此路的优势在于，几乎不会造成掉驱动。前二者改动内核，有可能造成驱动异常，部分硬件无法正常工作。</a:t>
            </a:r>
            <a:endParaRPr lang="en-US" altLang="zh-CN" sz="4000" dirty="0">
              <a:solidFill>
                <a:schemeClr val="bg2"/>
              </a:solidFill>
            </a:endParaRPr>
          </a:p>
          <a:p>
            <a:r>
              <a:rPr lang="zh-CN" altLang="en-US" sz="4000" dirty="0">
                <a:solidFill>
                  <a:schemeClr val="bg2"/>
                </a:solidFill>
              </a:rPr>
              <a:t>如果你偏爱 </a:t>
            </a:r>
            <a:r>
              <a:rPr lang="en-US" altLang="zh-CN" sz="4000" dirty="0" err="1">
                <a:solidFill>
                  <a:schemeClr val="bg2"/>
                </a:solidFill>
              </a:rPr>
              <a:t>Magisk</a:t>
            </a:r>
            <a:r>
              <a:rPr lang="zh-CN" altLang="en-US" sz="4000" dirty="0">
                <a:solidFill>
                  <a:schemeClr val="bg2"/>
                </a:solidFill>
              </a:rPr>
              <a:t>，并且想展现自己的过人之处，自然可以尝试。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B925281-889B-4F89-78F6-87EA9899BB7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00873" y="749788"/>
            <a:ext cx="10405668" cy="928159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15E82D6-2169-C70F-97C1-0ADA091E31A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547857" y="9752158"/>
            <a:ext cx="9511699" cy="3798339"/>
          </a:xfrm>
          <a:prstGeom prst="rect">
            <a:avLst/>
          </a:prstGeom>
        </p:spPr>
      </p:pic>
      <p:sp>
        <p:nvSpPr>
          <p:cNvPr id="7" name="箭头: 左 6">
            <a:extLst>
              <a:ext uri="{FF2B5EF4-FFF2-40B4-BE49-F238E27FC236}">
                <a16:creationId xmlns:a16="http://schemas.microsoft.com/office/drawing/2014/main" id="{B781F62A-C5D2-8AF4-9BAF-11D50DBFE3C3}"/>
              </a:ext>
            </a:extLst>
          </p:cNvPr>
          <p:cNvSpPr/>
          <p:nvPr/>
        </p:nvSpPr>
        <p:spPr>
          <a:xfrm>
            <a:off x="157065" y="13050640"/>
            <a:ext cx="4499878" cy="1349963"/>
          </a:xfrm>
          <a:prstGeom prst="leftArrow">
            <a:avLst>
              <a:gd name="adj1" fmla="val 10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上一页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ctr"/>
            <a:r>
              <a:rPr lang="en-US" altLang="zh-CN" sz="4000" dirty="0">
                <a:solidFill>
                  <a:schemeClr val="tx1"/>
                </a:solidFill>
              </a:rPr>
              <a:t>【Back Space】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8" name="动作按钮: 转到主页 7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2BA26CD-F20C-3DB1-36A5-E1EE4B035E4D}"/>
              </a:ext>
            </a:extLst>
          </p:cNvPr>
          <p:cNvSpPr/>
          <p:nvPr/>
        </p:nvSpPr>
        <p:spPr>
          <a:xfrm>
            <a:off x="14850259" y="13050640"/>
            <a:ext cx="4499878" cy="1349963"/>
          </a:xfrm>
          <a:prstGeom prst="actionButtonHom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</a:rPr>
              <a:t> 主菜单         </a:t>
            </a:r>
            <a:r>
              <a:rPr lang="en-US" altLang="zh-CN" sz="4000" dirty="0">
                <a:solidFill>
                  <a:schemeClr val="tx1"/>
                </a:solidFill>
              </a:rPr>
              <a:t>【ESC】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192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348</TotalTime>
  <Words>800</Words>
  <Application>Microsoft Office PowerPoint</Application>
  <PresentationFormat>自定义</PresentationFormat>
  <Paragraphs>38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楷体</vt:lpstr>
      <vt:lpstr>Aptos</vt:lpstr>
      <vt:lpstr>Aptos Display</vt:lpstr>
      <vt:lpstr>Arial</vt:lpstr>
      <vt:lpstr>Office 主题​​</vt:lpstr>
      <vt:lpstr>fydeOS 获取 Root 权限分析</vt:lpstr>
      <vt:lpstr>关于 KernelSU 的分析 </vt:lpstr>
      <vt:lpstr>关于 APatch 的分析 </vt:lpstr>
      <vt:lpstr>关于类 Magisk 的分析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aoc</dc:creator>
  <cp:lastModifiedBy>aoc</cp:lastModifiedBy>
  <cp:revision>12</cp:revision>
  <dcterms:created xsi:type="dcterms:W3CDTF">2025-05-31T03:35:30Z</dcterms:created>
  <dcterms:modified xsi:type="dcterms:W3CDTF">2025-06-29T11:49:48Z</dcterms:modified>
</cp:coreProperties>
</file>